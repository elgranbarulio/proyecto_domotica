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ecee9d86_0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ecee9d86_0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idx="1" type="subTitle"/>
          </p:nvPr>
        </p:nvSpPr>
        <p:spPr>
          <a:xfrm>
            <a:off x="360000" y="180000"/>
            <a:ext cx="9360000" cy="221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515592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3" type="body"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60000" y="1080000"/>
            <a:ext cx="456732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3" type="body"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3" type="body"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60000" y="108000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360000" y="2960280"/>
            <a:ext cx="936000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36000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5155920" y="108000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36000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4" type="body"/>
          </p:nvPr>
        </p:nvSpPr>
        <p:spPr>
          <a:xfrm>
            <a:off x="5155920" y="2960280"/>
            <a:ext cx="456732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6000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352476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3" type="body"/>
          </p:nvPr>
        </p:nvSpPr>
        <p:spPr>
          <a:xfrm>
            <a:off x="6689160" y="108000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4" type="body"/>
          </p:nvPr>
        </p:nvSpPr>
        <p:spPr>
          <a:xfrm>
            <a:off x="36000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5" type="body"/>
          </p:nvPr>
        </p:nvSpPr>
        <p:spPr>
          <a:xfrm>
            <a:off x="352476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6" type="body"/>
          </p:nvPr>
        </p:nvSpPr>
        <p:spPr>
          <a:xfrm>
            <a:off x="6689160" y="2960280"/>
            <a:ext cx="3013560" cy="171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10800000">
            <a:off x="0" y="4500000"/>
            <a:ext cx="10080000" cy="1170000"/>
          </a:xfrm>
          <a:prstGeom prst="flowChartDocument">
            <a:avLst/>
          </a:pr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10800000" scaled="0"/>
          </a:gradFill>
          <a:ln>
            <a:noFill/>
          </a:ln>
          <a:effectLst>
            <a:outerShdw dir="5400000" dist="10800">
              <a:srgbClr val="009BD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10800000" scaled="0"/>
          </a:gradFill>
          <a:ln>
            <a:noFill/>
          </a:ln>
          <a:effectLst>
            <a:outerShdw dir="5400000" dist="10800">
              <a:srgbClr val="009BD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10800000" scaled="0"/>
          </a:gradFill>
          <a:ln>
            <a:noFill/>
          </a:ln>
          <a:effectLst>
            <a:outerShdw dir="5400000" dist="10800">
              <a:srgbClr val="009BDD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/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rgbClr val="DD4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360"/>
            <a:ext cx="10118160" cy="565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3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DEFINICIÓN DEL TARGET</a:t>
            </a:r>
            <a:endParaRPr b="0" i="0" sz="33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 txBox="1"/>
          <p:nvPr/>
        </p:nvSpPr>
        <p:spPr>
          <a:xfrm>
            <a:off x="360000" y="1035275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b="1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b="0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:Detectar situaciones de derroche energético en el aula.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542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b="1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b="0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: Predecir si habrá derroche en la siguiente hora.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542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b="1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="0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: Derroche en la siguiente hora (0/1)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542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b="1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UMBRAL</a:t>
            </a:r>
            <a:r>
              <a:rPr b="0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: Se tuvo que replantear el umbral de 5%.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3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Correlación entre sensores.</a:t>
            </a:r>
            <a:endParaRPr b="0" i="0" sz="33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b="0" i="0" lang="es-ES" sz="2400" u="none" cap="none" strike="noStrike">
                <a:solidFill>
                  <a:srgbClr val="009BDD"/>
                </a:solidFill>
                <a:latin typeface="Arial"/>
                <a:ea typeface="Arial"/>
                <a:cs typeface="Arial"/>
                <a:sym typeface="Arial"/>
              </a:rPr>
              <a:t>Aquí simplemente pondría las imágenes de las correlaciones, y si te cabe algún comentario pues también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25" y="748100"/>
            <a:ext cx="9577648" cy="432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3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VALORES AULAS: TEMPERATURA</a:t>
            </a:r>
            <a:endParaRPr b="0" i="0" sz="33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1054350"/>
            <a:ext cx="9444702" cy="35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33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VALORES AULA: HUMEDAD</a:t>
            </a:r>
            <a:endParaRPr b="0" sz="3300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739450"/>
            <a:ext cx="9404798" cy="42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33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CÁLCULO DERROCHE</a:t>
            </a:r>
            <a:endParaRPr b="0" sz="3300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2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924475"/>
            <a:ext cx="9185427" cy="38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33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RED NEURONAL</a:t>
            </a:r>
            <a:endParaRPr b="0" sz="3300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25" y="767250"/>
            <a:ext cx="3541360" cy="414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0270" y="761938"/>
            <a:ext cx="4171705" cy="41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33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RESULTADOS Y CONCLUSIONES</a:t>
            </a:r>
            <a:endParaRPr b="0" sz="3300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4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4"/>
          <p:cNvSpPr txBox="1"/>
          <p:nvPr/>
        </p:nvSpPr>
        <p:spPr>
          <a:xfrm>
            <a:off x="360000" y="1035275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lang="es-ES" sz="2400">
                <a:solidFill>
                  <a:srgbClr val="009BDD"/>
                </a:solidFill>
              </a:rPr>
              <a:t>La mayor carga de trabajo tal y como se nos habia dicho era la limpieza y trata de los datos.</a:t>
            </a:r>
            <a:endParaRPr sz="2400">
              <a:solidFill>
                <a:srgbClr val="009BDD"/>
              </a:solidFill>
            </a:endParaRPr>
          </a:p>
          <a:p>
            <a:pPr indent="-407820" lvl="0" marL="431999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t/>
            </a:r>
            <a:endParaRPr sz="2400">
              <a:solidFill>
                <a:srgbClr val="009BDD"/>
              </a:solidFill>
            </a:endParaRPr>
          </a:p>
          <a:p>
            <a:pPr indent="-324000" lvl="0" marL="431999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Char char="●"/>
            </a:pPr>
            <a:r>
              <a:rPr lang="es-ES" sz="2400">
                <a:solidFill>
                  <a:srgbClr val="009BDD"/>
                </a:solidFill>
              </a:rPr>
              <a:t>L</a:t>
            </a:r>
            <a:r>
              <a:rPr lang="es-ES" sz="2400">
                <a:solidFill>
                  <a:srgbClr val="009BDD"/>
                </a:solidFill>
              </a:rPr>
              <a:t>a red neuronal se ha visto afectada claramente por la descompensacion de los datos, lo cual hace que no sea fiable.</a:t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5420" lvl="0" marL="431999" marR="0" rtl="0" algn="l">
              <a:spcBef>
                <a:spcPts val="1060"/>
              </a:spcBef>
              <a:spcAft>
                <a:spcPts val="0"/>
              </a:spcAft>
              <a:buClr>
                <a:srgbClr val="77CAEE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6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360000" y="306300"/>
            <a:ext cx="9360000" cy="47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rgbClr val="EEEEEE"/>
                </a:solidFill>
              </a:rPr>
              <a:t>VISUALIZACIÓN API</a:t>
            </a:r>
            <a:endParaRPr sz="3300">
              <a:solidFill>
                <a:srgbClr val="EEEEE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847824"/>
            <a:ext cx="8472651" cy="410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/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33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DASHBOARD: GRAFANA</a:t>
            </a:r>
            <a:endParaRPr b="0" sz="3300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6"/>
          <p:cNvSpPr txBox="1"/>
          <p:nvPr/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9BD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320" y="720000"/>
            <a:ext cx="8309520" cy="43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